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0" r:id="rId10"/>
    <p:sldId id="348" r:id="rId11"/>
    <p:sldId id="349" r:id="rId12"/>
    <p:sldId id="344" r:id="rId13"/>
    <p:sldId id="346" r:id="rId14"/>
    <p:sldId id="341" r:id="rId15"/>
    <p:sldId id="347"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5033" autoAdjust="0"/>
  </p:normalViewPr>
  <p:slideViewPr>
    <p:cSldViewPr snapToGrid="0">
      <p:cViewPr varScale="1">
        <p:scale>
          <a:sx n="85" d="100"/>
          <a:sy n="85" d="100"/>
        </p:scale>
        <p:origin x="456"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8509518" cy="743448"/>
          </a:xfrm>
        </p:spPr>
        <p:txBody>
          <a:bodyPr>
            <a:noAutofit/>
          </a:bodyPr>
          <a:lstStyle/>
          <a:p>
            <a:r>
              <a:rPr lang="en-IN" sz="3200" b="1"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51028"/>
            <a:ext cx="8755554" cy="461665"/>
          </a:xfrm>
          <a:prstGeom prst="rect">
            <a:avLst/>
          </a:prstGeom>
          <a:noFill/>
        </p:spPr>
        <p:txBody>
          <a:bodyPr wrap="square" rtlCol="0">
            <a:spAutoFit/>
          </a:bodyPr>
          <a:lstStyle/>
          <a:p>
            <a:r>
              <a:rPr lang="en-US" sz="2400" b="1" dirty="0"/>
              <a:t>AICTE STU ID :STU6a675f1cb8c3c1785159452 </a:t>
            </a:r>
          </a:p>
        </p:txBody>
      </p:sp>
      <p:sp>
        <p:nvSpPr>
          <p:cNvPr id="8" name="TextBox 7">
            <a:extLst>
              <a:ext uri="{FF2B5EF4-FFF2-40B4-BE49-F238E27FC236}">
                <a16:creationId xmlns:a16="http://schemas.microsoft.com/office/drawing/2014/main" id="{733BEAE8-653B-5F9E-1176-5F68BE124D81}"/>
              </a:ext>
            </a:extLst>
          </p:cNvPr>
          <p:cNvSpPr txBox="1"/>
          <p:nvPr/>
        </p:nvSpPr>
        <p:spPr>
          <a:xfrm>
            <a:off x="678363" y="3588198"/>
            <a:ext cx="8509518" cy="830997"/>
          </a:xfrm>
          <a:prstGeom prst="rect">
            <a:avLst/>
          </a:prstGeom>
          <a:noFill/>
        </p:spPr>
        <p:txBody>
          <a:bodyPr wrap="square" rtlCol="0">
            <a:spAutoFit/>
          </a:bodyPr>
          <a:lstStyle/>
          <a:p>
            <a:r>
              <a:rPr lang="en-IN" sz="2400" b="1" dirty="0"/>
              <a:t>Ramya Bandi</a:t>
            </a:r>
          </a:p>
          <a:p>
            <a:r>
              <a:rPr lang="en-IN" sz="2400" b="1" dirty="0"/>
              <a:t>Chaitanya Bharathi Institute of Technology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00786" y="1343634"/>
            <a:ext cx="7791061" cy="5228312"/>
          </a:xfrm>
        </p:spPr>
        <p:txBody>
          <a:bodyPr vert="horz" lIns="91440" tIns="45720" rIns="91440" bIns="45720" rtlCol="0" anchor="t">
            <a:normAutofit/>
          </a:bodyPr>
          <a:lstStyle/>
          <a:p>
            <a:pPr algn="just"/>
            <a:r>
              <a:rPr lang="en-US" dirty="0"/>
              <a:t>Agricultural activities are influenced by seasonal variations in environmental conditions, farming practices, resource availability and market conditions. As a result, agricultural performance may differ from one season to another. </a:t>
            </a:r>
          </a:p>
          <a:p>
            <a:pPr algn="just"/>
            <a:r>
              <a:rPr lang="en-US" dirty="0"/>
              <a:t>However, raw agricultural data does not clearly explain how agricultural performance changes across seasons or what patterns can be observed in different seasonal conditions. </a:t>
            </a:r>
          </a:p>
          <a:p>
            <a:pPr algn="just"/>
            <a:r>
              <a:rPr lang="en-US" dirty="0"/>
              <a:t>The problem is to analyze the given agricultural dataset and investigate seasonal differences in agricultural performance by identifying meaningful patterns, trends, relationships and variations within the available data. </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373225" y="289160"/>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96505" y="264038"/>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23A46504-EB9F-B704-7EB1-E942A0095216}"/>
              </a:ext>
            </a:extLst>
          </p:cNvPr>
          <p:cNvSpPr txBox="1"/>
          <p:nvPr/>
        </p:nvSpPr>
        <p:spPr>
          <a:xfrm>
            <a:off x="467359" y="1231641"/>
            <a:ext cx="8788608" cy="5324535"/>
          </a:xfrm>
          <a:prstGeom prst="rect">
            <a:avLst/>
          </a:prstGeom>
          <a:noFill/>
        </p:spPr>
        <p:txBody>
          <a:bodyPr wrap="square" rtlCol="0">
            <a:spAutoFit/>
          </a:bodyPr>
          <a:lstStyle/>
          <a:p>
            <a:pPr algn="just"/>
            <a:r>
              <a:rPr lang="en-US" sz="2000" dirty="0"/>
              <a:t>Seasonal Agriculture Performance Analysis is a data analysis project that focuses on understanding how agricultural performance changes with different seasons and farming conditions. </a:t>
            </a:r>
          </a:p>
          <a:p>
            <a:pPr algn="just"/>
            <a:endParaRPr lang="en-US" sz="2000" dirty="0"/>
          </a:p>
          <a:p>
            <a:pPr algn="just"/>
            <a:r>
              <a:rPr lang="en-US" sz="2000" dirty="0"/>
              <a:t>The project uses agricultural data containing details such as crop production, farming practices, environmental conditions, resource usage, and economic factors.</a:t>
            </a:r>
          </a:p>
          <a:p>
            <a:pPr algn="just"/>
            <a:endParaRPr lang="en-US" sz="2000" dirty="0"/>
          </a:p>
          <a:p>
            <a:pPr algn="just"/>
            <a:r>
              <a:rPr lang="en-US" sz="2000" dirty="0"/>
              <a:t>The main aim of the project is to study the data and find useful patterns and differences between seasons. By comparing factors such as production, resource usage, and environmental conditions, the project helps identify which conditions are associated with better or lower agricultural performance.</a:t>
            </a:r>
          </a:p>
          <a:p>
            <a:pPr algn="just"/>
            <a:endParaRPr lang="en-US" sz="2000" dirty="0"/>
          </a:p>
          <a:p>
            <a:pPr algn="just"/>
            <a:r>
              <a:rPr lang="en-US" sz="2000" dirty="0"/>
              <a:t>The analysis can help in understanding the effect of seasonal changes on farming and provide useful insights that can support better agricultural planning and decision-making.</a:t>
            </a: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30759" y="1408131"/>
            <a:ext cx="9365033" cy="5230534"/>
          </a:xfrm>
        </p:spPr>
        <p:txBody>
          <a:bodyPr>
            <a:noAutofit/>
          </a:bodyPr>
          <a:lstStyle/>
          <a:p>
            <a:pPr marL="0" indent="0">
              <a:buNone/>
            </a:pPr>
            <a:r>
              <a:rPr lang="en-US" b="1" dirty="0"/>
              <a:t>Farmers</a:t>
            </a:r>
            <a:r>
              <a:rPr lang="en-US" dirty="0"/>
              <a:t> – To understand seasonal changes and improve farming practices.</a:t>
            </a:r>
          </a:p>
          <a:p>
            <a:pPr marL="0" indent="0">
              <a:buNone/>
            </a:pPr>
            <a:r>
              <a:rPr lang="en-US" b="1" dirty="0"/>
              <a:t>Agricultural Researchers </a:t>
            </a:r>
            <a:r>
              <a:rPr lang="en-US" dirty="0"/>
              <a:t>– To study trends and patterns in agricultural performance.</a:t>
            </a:r>
          </a:p>
          <a:p>
            <a:pPr marL="0" indent="0">
              <a:buNone/>
            </a:pPr>
            <a:r>
              <a:rPr lang="en-US" b="1" dirty="0"/>
              <a:t>Agricultural Officers </a:t>
            </a:r>
            <a:r>
              <a:rPr lang="en-US" dirty="0"/>
              <a:t>– To support planning and provide better guidance to farmers.</a:t>
            </a:r>
          </a:p>
          <a:p>
            <a:pPr marL="0" indent="0">
              <a:buNone/>
            </a:pPr>
            <a:r>
              <a:rPr lang="en-US" b="1" dirty="0"/>
              <a:t>Government Departments </a:t>
            </a:r>
            <a:r>
              <a:rPr lang="en-US" dirty="0"/>
              <a:t>– To assist in agricultural policies and resource planning.</a:t>
            </a:r>
          </a:p>
          <a:p>
            <a:pPr marL="0" indent="0">
              <a:buNone/>
            </a:pPr>
            <a:r>
              <a:rPr lang="en-US" b="1" dirty="0"/>
              <a:t>Agribusinesses</a:t>
            </a:r>
            <a:r>
              <a:rPr lang="en-US" dirty="0"/>
              <a:t> – To understand crop production and market-related trends.</a:t>
            </a:r>
          </a:p>
          <a:p>
            <a:pPr marL="0" indent="0">
              <a:buNone/>
            </a:pPr>
            <a:r>
              <a:rPr lang="en-US" b="1" dirty="0"/>
              <a:t>Students &amp; Academics</a:t>
            </a:r>
            <a:r>
              <a:rPr lang="en-US" dirty="0"/>
              <a:t> – For studying and analyzing agricultural data.</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330759" y="279710"/>
            <a:ext cx="10046070" cy="802641"/>
          </a:xfrm>
        </p:spPr>
        <p:txBody>
          <a:bodyPr>
            <a:normAutofit/>
          </a:bodyPr>
          <a:lstStyle/>
          <a:p>
            <a:r>
              <a:rPr lang="en-US" sz="3200" dirty="0"/>
              <a:t>WHO ARE THE END USERS?</a:t>
            </a:r>
            <a:endParaRPr lang="en-IN" sz="2000"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83058" y="653143"/>
            <a:ext cx="9027702" cy="5589569"/>
          </a:xfrm>
        </p:spPr>
        <p:txBody>
          <a:bodyPr>
            <a:normAutofit/>
          </a:bodyPr>
          <a:lstStyle/>
          <a:p>
            <a:pPr marL="457200" lvl="1" indent="0">
              <a:lnSpc>
                <a:spcPct val="150000"/>
              </a:lnSpc>
              <a:buNone/>
            </a:pPr>
            <a:endParaRPr lang="en-US" dirty="0"/>
          </a:p>
          <a:p>
            <a:pPr marL="457200" lvl="1" indent="0" algn="just">
              <a:buNone/>
            </a:pPr>
            <a:r>
              <a:rPr lang="en-US" b="1" dirty="0"/>
              <a:t>Google </a:t>
            </a:r>
            <a:r>
              <a:rPr lang="en-US" b="1" dirty="0" err="1"/>
              <a:t>Colab</a:t>
            </a:r>
            <a:r>
              <a:rPr lang="en-US" b="1" dirty="0"/>
              <a:t> </a:t>
            </a:r>
            <a:r>
              <a:rPr lang="en-US" dirty="0"/>
              <a:t>– For writing and running the analysis.</a:t>
            </a:r>
          </a:p>
          <a:p>
            <a:pPr marL="457200" lvl="1" indent="0" algn="just">
              <a:buNone/>
            </a:pPr>
            <a:r>
              <a:rPr lang="en-US" b="1" dirty="0"/>
              <a:t>Python</a:t>
            </a:r>
            <a:r>
              <a:rPr lang="en-US" dirty="0"/>
              <a:t> – Main programming language used.</a:t>
            </a:r>
          </a:p>
          <a:p>
            <a:pPr marL="457200" lvl="1" indent="0" algn="just">
              <a:buNone/>
            </a:pPr>
            <a:r>
              <a:rPr lang="en-US" b="1" dirty="0"/>
              <a:t>Pandas </a:t>
            </a:r>
            <a:r>
              <a:rPr lang="en-US" dirty="0"/>
              <a:t>– For data cleaning and data analysis.</a:t>
            </a:r>
          </a:p>
          <a:p>
            <a:pPr marL="457200" lvl="1" indent="0" algn="just">
              <a:buNone/>
            </a:pPr>
            <a:r>
              <a:rPr lang="en-US" b="1" dirty="0"/>
              <a:t>NumPy</a:t>
            </a:r>
            <a:r>
              <a:rPr lang="en-US" dirty="0"/>
              <a:t> – For numerical calculations.</a:t>
            </a:r>
          </a:p>
          <a:p>
            <a:pPr marL="457200" lvl="1" indent="0" algn="just">
              <a:buNone/>
            </a:pPr>
            <a:r>
              <a:rPr lang="en-US" b="1" dirty="0"/>
              <a:t>Seaborn</a:t>
            </a:r>
            <a:r>
              <a:rPr lang="en-US" dirty="0"/>
              <a:t> – For data visualization.</a:t>
            </a:r>
          </a:p>
          <a:p>
            <a:pPr marL="457200" lvl="1" indent="0" algn="just">
              <a:buNone/>
            </a:pPr>
            <a:r>
              <a:rPr lang="en-US" b="1" dirty="0"/>
              <a:t>Matplotlib </a:t>
            </a:r>
            <a:r>
              <a:rPr lang="en-US" dirty="0"/>
              <a:t>– For creating graphs and charts.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86560" y="191379"/>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192A4EE-CD29-2A25-0F15-98AECFBA12A6}"/>
              </a:ext>
            </a:extLst>
          </p:cNvPr>
          <p:cNvPicPr>
            <a:picLocks noChangeAspect="1"/>
          </p:cNvPicPr>
          <p:nvPr/>
        </p:nvPicPr>
        <p:blipFill>
          <a:blip r:embed="rId3"/>
          <a:stretch>
            <a:fillRect/>
          </a:stretch>
        </p:blipFill>
        <p:spPr>
          <a:xfrm>
            <a:off x="707945" y="1254119"/>
            <a:ext cx="5309529" cy="2987859"/>
          </a:xfrm>
          <a:prstGeom prst="rect">
            <a:avLst/>
          </a:prstGeom>
        </p:spPr>
      </p:pic>
      <p:sp>
        <p:nvSpPr>
          <p:cNvPr id="12" name="TextBox 11">
            <a:extLst>
              <a:ext uri="{FF2B5EF4-FFF2-40B4-BE49-F238E27FC236}">
                <a16:creationId xmlns:a16="http://schemas.microsoft.com/office/drawing/2014/main" id="{0F1D6ADD-2066-EC2F-4095-722F116F54D3}"/>
              </a:ext>
            </a:extLst>
          </p:cNvPr>
          <p:cNvSpPr txBox="1"/>
          <p:nvPr/>
        </p:nvSpPr>
        <p:spPr>
          <a:xfrm>
            <a:off x="433249" y="4525347"/>
            <a:ext cx="8925355" cy="1692771"/>
          </a:xfrm>
          <a:prstGeom prst="rect">
            <a:avLst/>
          </a:prstGeom>
          <a:noFill/>
        </p:spPr>
        <p:txBody>
          <a:bodyPr wrap="square" rtlCol="0">
            <a:spAutoFit/>
          </a:bodyPr>
          <a:lstStyle/>
          <a:p>
            <a:endParaRPr lang="en-IN" sz="2400" b="1" dirty="0"/>
          </a:p>
          <a:p>
            <a:pPr algn="just"/>
            <a:r>
              <a:rPr lang="en-US" sz="2000" dirty="0"/>
              <a:t>The rainfall distribution shows variation in rainfall levels across the observations, with most values concentrated within a particular range and some observations receiving relatively higher or lower rainfall. This indicates variability in rainfall conditions across the dataset</a:t>
            </a:r>
            <a:r>
              <a:rPr lang="en-IN" sz="2000" dirty="0"/>
              <a: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35F05-730D-835A-55FA-3F81B6D77FBF}"/>
              </a:ext>
            </a:extLst>
          </p:cNvPr>
          <p:cNvSpPr>
            <a:spLocks noGrp="1"/>
          </p:cNvSpPr>
          <p:nvPr>
            <p:ph type="title"/>
          </p:nvPr>
        </p:nvSpPr>
        <p:spPr/>
        <p:txBody>
          <a:bodyPr/>
          <a:lstStyle/>
          <a:p>
            <a:r>
              <a:rPr lang="en-IN" b="1" dirty="0">
                <a:solidFill>
                  <a:schemeClr val="tx1"/>
                </a:solidFill>
              </a:rPr>
              <a:t>RESULTS</a:t>
            </a:r>
          </a:p>
        </p:txBody>
      </p:sp>
      <p:sp>
        <p:nvSpPr>
          <p:cNvPr id="3" name="Content Placeholder 2">
            <a:extLst>
              <a:ext uri="{FF2B5EF4-FFF2-40B4-BE49-F238E27FC236}">
                <a16:creationId xmlns:a16="http://schemas.microsoft.com/office/drawing/2014/main" id="{1A0B5677-7126-76E0-9F29-5D0F6063FF11}"/>
              </a:ext>
            </a:extLst>
          </p:cNvPr>
          <p:cNvSpPr>
            <a:spLocks noGrp="1"/>
          </p:cNvSpPr>
          <p:nvPr>
            <p:ph idx="1"/>
          </p:nvPr>
        </p:nvSpPr>
        <p:spPr>
          <a:xfrm>
            <a:off x="677334" y="1416425"/>
            <a:ext cx="8596668" cy="4624938"/>
          </a:xfrm>
        </p:spPr>
        <p:txBody>
          <a:bodyPr/>
          <a:lstStyle/>
          <a:p>
            <a:pPr algn="just"/>
            <a:r>
              <a:rPr lang="en-IN" dirty="0"/>
              <a:t>The Kharif season achieves the highest peak crop yield (over 100 tonnes/ha), outperforming Rabi and Zaid, though typical median yields remain low across all seasons.</a:t>
            </a:r>
          </a:p>
        </p:txBody>
      </p:sp>
      <p:sp>
        <p:nvSpPr>
          <p:cNvPr id="4" name="Slide Number Placeholder 3">
            <a:extLst>
              <a:ext uri="{FF2B5EF4-FFF2-40B4-BE49-F238E27FC236}">
                <a16:creationId xmlns:a16="http://schemas.microsoft.com/office/drawing/2014/main" id="{F8B5B7CF-A842-D7E8-E93C-B9B9CD864326}"/>
              </a:ext>
            </a:extLst>
          </p:cNvPr>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5" name="Picture 4">
            <a:extLst>
              <a:ext uri="{FF2B5EF4-FFF2-40B4-BE49-F238E27FC236}">
                <a16:creationId xmlns:a16="http://schemas.microsoft.com/office/drawing/2014/main" id="{E68F8F15-47B8-48B6-A8FD-7FEBD1516DCC}"/>
              </a:ext>
            </a:extLst>
          </p:cNvPr>
          <p:cNvPicPr>
            <a:picLocks noChangeAspect="1"/>
          </p:cNvPicPr>
          <p:nvPr/>
        </p:nvPicPr>
        <p:blipFill>
          <a:blip r:embed="rId2"/>
          <a:stretch>
            <a:fillRect/>
          </a:stretch>
        </p:blipFill>
        <p:spPr>
          <a:xfrm>
            <a:off x="2245687" y="2452876"/>
            <a:ext cx="5459961" cy="3588486"/>
          </a:xfrm>
          <a:prstGeom prst="rect">
            <a:avLst/>
          </a:prstGeom>
        </p:spPr>
      </p:pic>
    </p:spTree>
    <p:extLst>
      <p:ext uri="{BB962C8B-B14F-4D97-AF65-F5344CB8AC3E}">
        <p14:creationId xmlns:p14="http://schemas.microsoft.com/office/powerpoint/2010/main" val="2654420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7434-59F4-DFE8-4425-B9C1AC859164}"/>
              </a:ext>
            </a:extLst>
          </p:cNvPr>
          <p:cNvSpPr>
            <a:spLocks noGrp="1"/>
          </p:cNvSpPr>
          <p:nvPr>
            <p:ph type="title"/>
          </p:nvPr>
        </p:nvSpPr>
        <p:spPr/>
        <p:txBody>
          <a:bodyPr/>
          <a:lstStyle/>
          <a:p>
            <a:r>
              <a:rPr lang="en-IN" b="1" dirty="0">
                <a:solidFill>
                  <a:schemeClr val="tx1"/>
                </a:solidFill>
              </a:rPr>
              <a:t>RESULTS</a:t>
            </a:r>
          </a:p>
        </p:txBody>
      </p:sp>
      <p:sp>
        <p:nvSpPr>
          <p:cNvPr id="3" name="Content Placeholder 2">
            <a:extLst>
              <a:ext uri="{FF2B5EF4-FFF2-40B4-BE49-F238E27FC236}">
                <a16:creationId xmlns:a16="http://schemas.microsoft.com/office/drawing/2014/main" id="{AA457D50-EA18-9B19-3F09-530FAA450582}"/>
              </a:ext>
            </a:extLst>
          </p:cNvPr>
          <p:cNvSpPr>
            <a:spLocks noGrp="1"/>
          </p:cNvSpPr>
          <p:nvPr>
            <p:ph idx="1"/>
          </p:nvPr>
        </p:nvSpPr>
        <p:spPr>
          <a:xfrm>
            <a:off x="677334" y="1443319"/>
            <a:ext cx="8596668" cy="4598044"/>
          </a:xfrm>
        </p:spPr>
        <p:txBody>
          <a:bodyPr/>
          <a:lstStyle/>
          <a:p>
            <a:r>
              <a:rPr lang="en-IN" dirty="0"/>
              <a:t>Yield acts as the primary driver of profitability across all seasons, while environmental metrics like rainfall and temperature reveal distinct, season-specific climate clusters.</a:t>
            </a:r>
          </a:p>
          <a:p>
            <a:endParaRPr lang="en-IN" dirty="0"/>
          </a:p>
          <a:p>
            <a:endParaRPr lang="en-IN" dirty="0"/>
          </a:p>
        </p:txBody>
      </p:sp>
      <p:sp>
        <p:nvSpPr>
          <p:cNvPr id="4" name="Slide Number Placeholder 3">
            <a:extLst>
              <a:ext uri="{FF2B5EF4-FFF2-40B4-BE49-F238E27FC236}">
                <a16:creationId xmlns:a16="http://schemas.microsoft.com/office/drawing/2014/main" id="{E5284670-1B3E-92A7-5641-A1BF05B22430}"/>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5" name="Picture 4">
            <a:extLst>
              <a:ext uri="{FF2B5EF4-FFF2-40B4-BE49-F238E27FC236}">
                <a16:creationId xmlns:a16="http://schemas.microsoft.com/office/drawing/2014/main" id="{7B4EFB99-FAF5-E3A4-994A-2D27E286F50C}"/>
              </a:ext>
            </a:extLst>
          </p:cNvPr>
          <p:cNvPicPr>
            <a:picLocks noChangeAspect="1"/>
          </p:cNvPicPr>
          <p:nvPr/>
        </p:nvPicPr>
        <p:blipFill>
          <a:blip r:embed="rId2"/>
          <a:stretch>
            <a:fillRect/>
          </a:stretch>
        </p:blipFill>
        <p:spPr>
          <a:xfrm>
            <a:off x="2097507" y="2348753"/>
            <a:ext cx="5072984" cy="3810000"/>
          </a:xfrm>
          <a:prstGeom prst="rect">
            <a:avLst/>
          </a:prstGeom>
        </p:spPr>
      </p:pic>
    </p:spTree>
    <p:extLst>
      <p:ext uri="{BB962C8B-B14F-4D97-AF65-F5344CB8AC3E}">
        <p14:creationId xmlns:p14="http://schemas.microsoft.com/office/powerpoint/2010/main" val="2058400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FCDDF09-9239-EC53-498A-ECFB88001BBC}"/>
              </a:ext>
            </a:extLst>
          </p:cNvPr>
          <p:cNvPicPr>
            <a:picLocks noChangeAspect="1"/>
          </p:cNvPicPr>
          <p:nvPr/>
        </p:nvPicPr>
        <p:blipFill>
          <a:blip r:embed="rId3"/>
          <a:stretch>
            <a:fillRect/>
          </a:stretch>
        </p:blipFill>
        <p:spPr>
          <a:xfrm>
            <a:off x="320983" y="1063691"/>
            <a:ext cx="6238438" cy="3433664"/>
          </a:xfrm>
          <a:prstGeom prst="rect">
            <a:avLst/>
          </a:prstGeom>
        </p:spPr>
      </p:pic>
      <p:sp>
        <p:nvSpPr>
          <p:cNvPr id="11" name="TextBox 10">
            <a:extLst>
              <a:ext uri="{FF2B5EF4-FFF2-40B4-BE49-F238E27FC236}">
                <a16:creationId xmlns:a16="http://schemas.microsoft.com/office/drawing/2014/main" id="{FE449301-B550-6D2C-1CBE-4FDD7DF21784}"/>
              </a:ext>
            </a:extLst>
          </p:cNvPr>
          <p:cNvSpPr txBox="1"/>
          <p:nvPr/>
        </p:nvSpPr>
        <p:spPr>
          <a:xfrm>
            <a:off x="606490" y="4497355"/>
            <a:ext cx="8668139" cy="1692771"/>
          </a:xfrm>
          <a:prstGeom prst="rect">
            <a:avLst/>
          </a:prstGeom>
          <a:noFill/>
        </p:spPr>
        <p:txBody>
          <a:bodyPr wrap="square" rtlCol="0">
            <a:spAutoFit/>
          </a:bodyPr>
          <a:lstStyle/>
          <a:p>
            <a:endParaRPr lang="en-IN" sz="2400" b="1" dirty="0"/>
          </a:p>
          <a:p>
            <a:pPr algn="just"/>
            <a:r>
              <a:rPr lang="en-US" sz="2000" dirty="0"/>
              <a:t>The scatter plot shows a positive association between rainfall and agricultural yield. Generally, yield tends to increase as rainfall increases, although the data points are widely scattered, indicating that rainfall is not the only factor influencing yield.</a:t>
            </a:r>
            <a:endParaRPr lang="en-IN" sz="2000"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E2C8D76-0CAD-E49A-620F-0A8C57FF03CA}"/>
              </a:ext>
            </a:extLst>
          </p:cNvPr>
          <p:cNvPicPr>
            <a:picLocks noChangeAspect="1"/>
          </p:cNvPicPr>
          <p:nvPr/>
        </p:nvPicPr>
        <p:blipFill>
          <a:blip r:embed="rId3"/>
          <a:stretch>
            <a:fillRect/>
          </a:stretch>
        </p:blipFill>
        <p:spPr>
          <a:xfrm>
            <a:off x="675957" y="1201585"/>
            <a:ext cx="7423014" cy="3613011"/>
          </a:xfrm>
          <a:prstGeom prst="rect">
            <a:avLst/>
          </a:prstGeom>
        </p:spPr>
      </p:pic>
      <p:sp>
        <p:nvSpPr>
          <p:cNvPr id="11" name="TextBox 10">
            <a:extLst>
              <a:ext uri="{FF2B5EF4-FFF2-40B4-BE49-F238E27FC236}">
                <a16:creationId xmlns:a16="http://schemas.microsoft.com/office/drawing/2014/main" id="{892A91E3-8AB1-450E-3B20-322077DE9D40}"/>
              </a:ext>
            </a:extLst>
          </p:cNvPr>
          <p:cNvSpPr txBox="1"/>
          <p:nvPr/>
        </p:nvSpPr>
        <p:spPr>
          <a:xfrm>
            <a:off x="675957" y="4650708"/>
            <a:ext cx="8552019" cy="1384995"/>
          </a:xfrm>
          <a:prstGeom prst="rect">
            <a:avLst/>
          </a:prstGeom>
          <a:noFill/>
        </p:spPr>
        <p:txBody>
          <a:bodyPr wrap="square" rtlCol="0">
            <a:spAutoFit/>
          </a:bodyPr>
          <a:lstStyle/>
          <a:p>
            <a:endParaRPr lang="en-IN" sz="2400" b="1" dirty="0"/>
          </a:p>
          <a:p>
            <a:pPr algn="just"/>
            <a:r>
              <a:rPr lang="en-US" sz="2000" dirty="0"/>
              <a:t>The box plot compares crop yield across different crops and seasons. It shows the variation and distribution of yield for each crop-season combination, helping identify differences in agricultural performance.</a:t>
            </a:r>
            <a:endParaRPr lang="en-IN" sz="2000"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451183" y="162602"/>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BEB68A5-1A05-A4FD-2D15-A023AB8E8662}"/>
              </a:ext>
            </a:extLst>
          </p:cNvPr>
          <p:cNvSpPr txBox="1"/>
          <p:nvPr/>
        </p:nvSpPr>
        <p:spPr>
          <a:xfrm>
            <a:off x="451183" y="809701"/>
            <a:ext cx="8966718" cy="5601533"/>
          </a:xfrm>
          <a:prstGeom prst="rect">
            <a:avLst/>
          </a:prstGeom>
          <a:noFill/>
        </p:spPr>
        <p:txBody>
          <a:bodyPr wrap="square" rtlCol="0">
            <a:spAutoFit/>
          </a:bodyPr>
          <a:lstStyle/>
          <a:p>
            <a:endParaRPr lang="en-US" dirty="0"/>
          </a:p>
          <a:p>
            <a:pPr marL="342900" indent="-342900">
              <a:buFont typeface="Arial" panose="020B0604020202020204" pitchFamily="34" charset="0"/>
              <a:buChar char="•"/>
            </a:pPr>
            <a:r>
              <a:rPr lang="en-US" sz="2000" b="1" dirty="0"/>
              <a:t>Crop Yield Prediction </a:t>
            </a:r>
            <a:r>
              <a:rPr lang="en-US" sz="2000" dirty="0"/>
              <a:t>– Use machine learning to predict crop production for different seasons.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Weather-Based Analysis </a:t>
            </a:r>
            <a:r>
              <a:rPr lang="en-US" sz="2000" dirty="0"/>
              <a:t>– Include real-time weather data to study its effect on agriculture.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Smart Farming </a:t>
            </a:r>
            <a:r>
              <a:rPr lang="en-US" sz="2000" dirty="0"/>
              <a:t>– Use the insights to support better irrigation, fertilizer, and resource management.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Early Risk Detection </a:t>
            </a:r>
            <a:r>
              <a:rPr lang="en-US" sz="2000" dirty="0"/>
              <a:t>– Identify possible risks such as low rainfall, poor yield, or unfavorable conditions.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Interactive Dashboard </a:t>
            </a:r>
            <a:r>
              <a:rPr lang="en-US" sz="2000" dirty="0"/>
              <a:t>– Develop a dashboard where users can easily view seasonal trends and agricultural insights.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Real-Time Data Integration </a:t>
            </a:r>
            <a:r>
              <a:rPr lang="en-US" sz="2000" dirty="0"/>
              <a:t>– Connect the system with live agricultural and environmental data for more accurate analysis.</a:t>
            </a:r>
            <a:endParaRPr lang="en-IN"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A93BD-0DA3-A3C8-F941-69852E4316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EE42AA2-D4A8-D1D2-123C-B2B18263BB2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3E16A66-2436-719F-58C3-8B09A0656ED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73E72F24-80C1-FBD5-D420-C65BA45A354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A51C2DB-84B7-2918-59CB-E7804203E83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83B7A38D-2948-0FDC-9D7C-79C7583F769D}"/>
              </a:ext>
            </a:extLst>
          </p:cNvPr>
          <p:cNvSpPr txBox="1"/>
          <p:nvPr/>
        </p:nvSpPr>
        <p:spPr>
          <a:xfrm>
            <a:off x="898712" y="2124199"/>
            <a:ext cx="6100482" cy="646331"/>
          </a:xfrm>
          <a:prstGeom prst="rect">
            <a:avLst/>
          </a:prstGeom>
          <a:noFill/>
        </p:spPr>
        <p:txBody>
          <a:bodyPr wrap="square">
            <a:spAutoFit/>
          </a:bodyPr>
          <a:lstStyle/>
          <a:p>
            <a:r>
              <a:rPr lang="en-IN" dirty="0"/>
              <a:t>https://github.com/bandiramya/Seasonal-Agriculture-Performance-Analysis.git</a:t>
            </a:r>
          </a:p>
        </p:txBody>
      </p:sp>
    </p:spTree>
    <p:extLst>
      <p:ext uri="{BB962C8B-B14F-4D97-AF65-F5344CB8AC3E}">
        <p14:creationId xmlns:p14="http://schemas.microsoft.com/office/powerpoint/2010/main" val="320360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2CE1AF4-E5A9-7237-6541-12A8ACF42817}"/>
              </a:ext>
            </a:extLst>
          </p:cNvPr>
          <p:cNvPicPr>
            <a:picLocks noChangeAspect="1"/>
          </p:cNvPicPr>
          <p:nvPr/>
        </p:nvPicPr>
        <p:blipFill>
          <a:blip r:embed="rId3"/>
          <a:stretch>
            <a:fillRect/>
          </a:stretch>
        </p:blipFill>
        <p:spPr>
          <a:xfrm>
            <a:off x="870673" y="1587077"/>
            <a:ext cx="6950042" cy="488484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18506" y="299850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2967</TotalTime>
  <Words>668</Words>
  <Application>Microsoft Office PowerPoint</Application>
  <PresentationFormat>Widescreen</PresentationFormat>
  <Paragraphs>66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vt:lpstr>
      <vt:lpstr>RESULTS</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Bandi Ramya</cp:lastModifiedBy>
  <cp:revision>104</cp:revision>
  <dcterms:created xsi:type="dcterms:W3CDTF">2021-07-11T13:13:15Z</dcterms:created>
  <dcterms:modified xsi:type="dcterms:W3CDTF">2026-09-05T14:30:58Z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